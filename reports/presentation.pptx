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6B6478"/>
                </a:solidFill>
                <a:latin typeface="Arial"/>
              </a:defRPr>
            </a:pPr>
            <a:r>
              <a:rPr sz="1200" b="0" i="0" u="none" strike="noStrike">
                <a:solidFill>
                  <a:srgbClr val="6B6478"/>
                </a:solidFill>
                <a:latin typeface="Arial"/>
              </a:rPr>
              <a:t>n = 590 samples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Diagnosis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A896"/>
              </a:solidFill>
              <a:effectLst/>
            </c:spPr>
          </c:dPt>
          <c:dPt>
            <c:idx val="1"/>
            <c:bubble3D val="0"/>
            <c:spPr>
              <a:solidFill>
                <a:srgbClr val="F2A900"/>
              </a:solidFill>
              <a:effectLst/>
            </c:spPr>
          </c:dPt>
          <c:dPt>
            <c:idx val="2"/>
            <c:bubble3D val="0"/>
            <c:spPr>
              <a:solidFill>
                <a:srgbClr val="4B2E83"/>
              </a:solidFill>
              <a:effectLst/>
            </c:spPr>
          </c:dPt>
          <c:dLbls>
            <c:dLbl>
              <c:idx val="0"/>
              <c:numFmt formatCode="0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Control</c:v>
                </c:pt>
                <c:pt idx="1">
                  <c:v>Benign</c:v>
                </c:pt>
                <c:pt idx="2">
                  <c:v>PDAC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186</c:v>
                </c:pt>
                <c:pt idx="1">
                  <c:v>207</c:v>
                </c:pt>
                <c:pt idx="2">
                  <c:v>197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41B3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B2E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645920"/>
            <a:ext cx="5029200" cy="5029200"/>
          </a:xfrm>
          <a:prstGeom prst="ellipse">
            <a:avLst/>
          </a:prstGeom>
          <a:solidFill>
            <a:srgbClr val="34205C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023360"/>
            <a:ext cx="3840480" cy="3840480"/>
          </a:xfrm>
          <a:prstGeom prst="ellipse">
            <a:avLst/>
          </a:prstGeom>
          <a:solidFill>
            <a:srgbClr val="5B3A99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 COURSE PROJECT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11680"/>
            <a:ext cx="8961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Early-Stage Pancreatic Cancer Detection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3375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9C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Random Forest Classification on Urinary Biomarker Data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22960" y="4160520"/>
            <a:ext cx="2011680" cy="0"/>
          </a:xfrm>
          <a:prstGeom prst="line">
            <a:avLst/>
          </a:prstGeom>
          <a:noFill/>
          <a:ln w="381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434840"/>
            <a:ext cx="8961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Technique: 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9C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 (sole model)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9C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Urinary biomarkers — CA19-9, creatinine, LYVE1, REG1B, TFF1, REG1A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9893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9A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 ·  Benign  ·  PDAC  — 3-class clinical screening classifier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Pancreatic cancer is deadly because it's found too late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F7F5FB"/>
          </a:solidFill>
          <a:ln/>
          <a:effectLst>
            <a:outerShdw sx="100000" sy="100000" kx="0" ky="0" algn="bl" rotWithShape="0" blurRad="76200" dist="25400" dir="5400000">
              <a:srgbClr val="3A2A5C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224028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B2E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~11%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10896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survival rate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stages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51960" y="192024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F7F5FB"/>
          </a:solidFill>
          <a:ln/>
          <a:effectLst>
            <a:outerShdw sx="100000" sy="100000" kx="0" ky="0" algn="bl" rotWithShape="0" blurRad="76200" dist="25400" dir="5400000">
              <a:srgbClr val="3A2A5C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251960" y="224028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B2E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80%+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310896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cases diagnosed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late, inoperable stage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55280" y="192024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F7F5FB"/>
          </a:solidFill>
          <a:ln/>
          <a:effectLst>
            <a:outerShdw sx="100000" sy="100000" kx="0" ky="0" algn="bl" rotWithShape="0" blurRad="76200" dist="25400" dir="5400000">
              <a:srgbClr val="3A2A5C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955280" y="224028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B2E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Non-invasive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310896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urine test could enable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early screening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343400"/>
            <a:ext cx="11064240" cy="1691640"/>
          </a:xfrm>
          <a:prstGeom prst="roundRect">
            <a:avLst>
              <a:gd name="adj" fmla="val 4324"/>
            </a:avLst>
          </a:prstGeom>
          <a:solidFill>
            <a:srgbClr val="4B2E8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455371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892040"/>
            <a:ext cx="10332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end-to-end ML pipeline that classifies patients as Control / Benign / PDAC from cheap, non-invasive urinary biomarkers — using Random Forest as the sole data mining technique, with a clear answer to “which biomarkers actually matter?”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Urinary Biomarkers for Pancreatic Cancer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Debernardi et al. (2020), PLOS Medicine — 590 samples, 3 diagnosis classes</a:t>
            </a:r>
            <a:endParaRPr lang="en-US" sz="12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6766560" cy="4206240"/>
        </p:xfrm>
        <a:graphic>
          <a:graphicData uri="http://schemas.openxmlformats.org/drawingml/2006/table">
            <a:tbl>
              <a:tblPr/>
              <a:tblGrid>
                <a:gridCol w="2468880"/>
                <a:gridCol w="42976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plasma CA19-9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pancreatic cancer blood marker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creatinine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Urine concentration control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LYVE1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Lymphatic vessel endothelial marker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REG1B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Regenerating protein — top predictor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TFF1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Trefoil factor — tissue repair protein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REG1A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Regenerating protein family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age, sex, cohort, origin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Demographic / batch metadata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B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1828800"/>
            <a:ext cx="6766560" cy="365760"/>
          </a:xfrm>
          <a:prstGeom prst="rect">
            <a:avLst/>
          </a:prstGeom>
          <a:solidFill>
            <a:srgbClr val="4B2E8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94360" y="1828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3063240" y="18288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589520" y="14173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balance</a:t>
            </a:r>
            <a:endParaRPr lang="en-US" sz="14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7498080" y="1783080"/>
          <a:ext cx="41148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7"/>
          <p:cNvSpPr/>
          <p:nvPr/>
        </p:nvSpPr>
        <p:spPr>
          <a:xfrm>
            <a:off x="7498080" y="4892040"/>
            <a:ext cx="4114800" cy="1143000"/>
          </a:xfrm>
          <a:prstGeom prst="roundRect">
            <a:avLst>
              <a:gd name="adj" fmla="val 6400"/>
            </a:avLst>
          </a:prstGeom>
          <a:solidFill>
            <a:srgbClr val="FFF3DC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680960" y="502920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Note: 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4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has no Kaggle/UCI network access, so a schema-matched synthetic dataset stands in for the real CSV (see data/README.md).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pipeline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327148" y="3127248"/>
            <a:ext cx="539496" cy="237744"/>
          </a:xfrm>
          <a:prstGeom prst="rightArrow">
            <a:avLst/>
          </a:prstGeom>
          <a:solidFill>
            <a:srgbClr val="D9CEF0"/>
          </a:solidFill>
          <a:ln/>
        </p:spPr>
      </p:sp>
      <p:sp>
        <p:nvSpPr>
          <p:cNvPr id="5" name="Shape 3"/>
          <p:cNvSpPr/>
          <p:nvPr/>
        </p:nvSpPr>
        <p:spPr>
          <a:xfrm>
            <a:off x="516636" y="2377440"/>
            <a:ext cx="1828800" cy="1737360"/>
          </a:xfrm>
          <a:prstGeom prst="roundRect">
            <a:avLst>
              <a:gd name="adj" fmla="val 5263"/>
            </a:avLst>
          </a:prstGeom>
          <a:solidFill>
            <a:srgbClr val="F7F5FB"/>
          </a:solidFill>
          <a:ln/>
          <a:effectLst>
            <a:outerShdw sx="100000" sy="100000" kx="0" ky="0" algn="bl" rotWithShape="0" blurRad="76200" dist="25400" dir="5400000">
              <a:srgbClr val="3A2A5C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75004" y="2606040"/>
            <a:ext cx="512064" cy="512064"/>
          </a:xfrm>
          <a:prstGeom prst="ellipse">
            <a:avLst/>
          </a:prstGeom>
          <a:solidFill>
            <a:srgbClr val="4B2E8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75004" y="26060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16636" y="3246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Data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08076" y="36118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data_loader.py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58868" y="3127248"/>
            <a:ext cx="539496" cy="237744"/>
          </a:xfrm>
          <a:prstGeom prst="rightArrow">
            <a:avLst/>
          </a:prstGeom>
          <a:solidFill>
            <a:srgbClr val="D9CEF0"/>
          </a:solidFill>
          <a:ln/>
        </p:spPr>
      </p:sp>
      <p:sp>
        <p:nvSpPr>
          <p:cNvPr id="11" name="Shape 9"/>
          <p:cNvSpPr/>
          <p:nvPr/>
        </p:nvSpPr>
        <p:spPr>
          <a:xfrm>
            <a:off x="2848356" y="2377440"/>
            <a:ext cx="1828800" cy="1737360"/>
          </a:xfrm>
          <a:prstGeom prst="roundRect">
            <a:avLst>
              <a:gd name="adj" fmla="val 5263"/>
            </a:avLst>
          </a:prstGeom>
          <a:solidFill>
            <a:srgbClr val="F7F5FB"/>
          </a:solidFill>
          <a:ln/>
          <a:effectLst>
            <a:outerShdw sx="100000" sy="100000" kx="0" ky="0" algn="bl" rotWithShape="0" blurRad="76200" dist="25400" dir="5400000">
              <a:srgbClr val="3A2A5C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06724" y="2606040"/>
            <a:ext cx="512064" cy="512064"/>
          </a:xfrm>
          <a:prstGeom prst="ellipse">
            <a:avLst/>
          </a:prstGeom>
          <a:solidFill>
            <a:srgbClr val="4B2E8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506724" y="26060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2848356" y="3246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939796" y="36118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· encode · scale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990588" y="3127248"/>
            <a:ext cx="539496" cy="237744"/>
          </a:xfrm>
          <a:prstGeom prst="rightArrow">
            <a:avLst/>
          </a:prstGeom>
          <a:solidFill>
            <a:srgbClr val="D9CEF0"/>
          </a:solidFill>
          <a:ln/>
        </p:spPr>
      </p:sp>
      <p:sp>
        <p:nvSpPr>
          <p:cNvPr id="17" name="Shape 15"/>
          <p:cNvSpPr/>
          <p:nvPr/>
        </p:nvSpPr>
        <p:spPr>
          <a:xfrm>
            <a:off x="5180076" y="2377440"/>
            <a:ext cx="1828800" cy="1737360"/>
          </a:xfrm>
          <a:prstGeom prst="roundRect">
            <a:avLst>
              <a:gd name="adj" fmla="val 5263"/>
            </a:avLst>
          </a:prstGeom>
          <a:solidFill>
            <a:srgbClr val="4B2E83"/>
          </a:solidFill>
          <a:ln/>
          <a:effectLst>
            <a:outerShdw sx="100000" sy="100000" kx="0" ky="0" algn="bl" rotWithShape="0" blurRad="76200" dist="25400" dir="5400000">
              <a:srgbClr val="3A2A5C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838444" y="2606040"/>
            <a:ext cx="512064" cy="51206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838444" y="26060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180076" y="3246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271516" y="36118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9C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+ GridSearchCV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322308" y="3127248"/>
            <a:ext cx="539496" cy="237744"/>
          </a:xfrm>
          <a:prstGeom prst="rightArrow">
            <a:avLst/>
          </a:prstGeom>
          <a:solidFill>
            <a:srgbClr val="D9CEF0"/>
          </a:solidFill>
          <a:ln/>
        </p:spPr>
      </p:sp>
      <p:sp>
        <p:nvSpPr>
          <p:cNvPr id="23" name="Shape 21"/>
          <p:cNvSpPr/>
          <p:nvPr/>
        </p:nvSpPr>
        <p:spPr>
          <a:xfrm>
            <a:off x="7511796" y="2377440"/>
            <a:ext cx="1828800" cy="1737360"/>
          </a:xfrm>
          <a:prstGeom prst="roundRect">
            <a:avLst>
              <a:gd name="adj" fmla="val 5263"/>
            </a:avLst>
          </a:prstGeom>
          <a:solidFill>
            <a:srgbClr val="F7F5FB"/>
          </a:solidFill>
          <a:ln/>
          <a:effectLst>
            <a:outerShdw sx="100000" sy="100000" kx="0" ky="0" algn="bl" rotWithShape="0" blurRad="76200" dist="25400" dir="5400000">
              <a:srgbClr val="3A2A5C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170164" y="2606040"/>
            <a:ext cx="512064" cy="512064"/>
          </a:xfrm>
          <a:prstGeom prst="ellipse">
            <a:avLst/>
          </a:prstGeom>
          <a:solidFill>
            <a:srgbClr val="4B2E8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170164" y="26060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511796" y="3246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603236" y="36118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· plots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843516" y="2377440"/>
            <a:ext cx="1828800" cy="1737360"/>
          </a:xfrm>
          <a:prstGeom prst="roundRect">
            <a:avLst>
              <a:gd name="adj" fmla="val 5263"/>
            </a:avLst>
          </a:prstGeom>
          <a:solidFill>
            <a:srgbClr val="F7F5FB"/>
          </a:solidFill>
          <a:ln/>
          <a:effectLst>
            <a:outerShdw sx="100000" sy="100000" kx="0" ky="0" algn="bl" rotWithShape="0" blurRad="76200" dist="25400" dir="5400000">
              <a:srgbClr val="3A2A5C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501884" y="2606040"/>
            <a:ext cx="512064" cy="512064"/>
          </a:xfrm>
          <a:prstGeom prst="ellipse">
            <a:avLst/>
          </a:prstGeom>
          <a:solidFill>
            <a:srgbClr val="4B2E83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0501884" y="26060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9843516" y="3246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9934956" y="36118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predict.py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1097280" y="484632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is used as the sole data mining technique throughout — no ensembling with other model families, no deep learning.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 decisions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932688"/>
          </a:xfrm>
          <a:prstGeom prst="roundRect">
            <a:avLst>
              <a:gd name="adj" fmla="val 6863"/>
            </a:avLst>
          </a:prstGeom>
          <a:solidFill>
            <a:srgbClr val="F7F5FB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46504"/>
            <a:ext cx="457200" cy="457200"/>
          </a:xfrm>
          <a:prstGeom prst="ellipse">
            <a:avLst/>
          </a:prstGeom>
          <a:solidFill>
            <a:srgbClr val="4B2E8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7465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600200"/>
            <a:ext cx="4297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target leakage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1911096"/>
            <a:ext cx="4297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stage &amp; benign_sample_diagnosis — only populated AFTER diagnosis, so keeping them would let the model cheat.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6263640" y="1508760"/>
            <a:ext cx="5349240" cy="932688"/>
          </a:xfrm>
          <a:prstGeom prst="roundRect">
            <a:avLst>
              <a:gd name="adj" fmla="val 6863"/>
            </a:avLst>
          </a:prstGeom>
          <a:solidFill>
            <a:srgbClr val="F7F5FB"/>
          </a:solidFill>
          <a:ln/>
        </p:spPr>
      </p:sp>
      <p:sp>
        <p:nvSpPr>
          <p:cNvPr id="10" name="Shape 8"/>
          <p:cNvSpPr/>
          <p:nvPr/>
        </p:nvSpPr>
        <p:spPr>
          <a:xfrm>
            <a:off x="6492240" y="1746504"/>
            <a:ext cx="457200" cy="457200"/>
          </a:xfrm>
          <a:prstGeom prst="ellipse">
            <a:avLst/>
          </a:prstGeom>
          <a:solidFill>
            <a:srgbClr val="4B2E8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17465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0" y="1600200"/>
            <a:ext cx="4297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imputation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0" y="1911096"/>
            <a:ext cx="4297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plasma_CA19_9 and REG1A have real missingness; median is robust to skewed biomarker concentrations.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548640" y="2642616"/>
            <a:ext cx="5349240" cy="932688"/>
          </a:xfrm>
          <a:prstGeom prst="roundRect">
            <a:avLst>
              <a:gd name="adj" fmla="val 6863"/>
            </a:avLst>
          </a:prstGeom>
          <a:solidFill>
            <a:srgbClr val="F7F5FB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2880360"/>
            <a:ext cx="457200" cy="457200"/>
          </a:xfrm>
          <a:prstGeom prst="ellipse">
            <a:avLst/>
          </a:prstGeom>
          <a:solidFill>
            <a:srgbClr val="4B2E8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2734056"/>
            <a:ext cx="4297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encoding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3044952"/>
            <a:ext cx="4297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sex, patient_cohort, sample_origin encoded without implying false ordering.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6263640" y="2642616"/>
            <a:ext cx="5349240" cy="932688"/>
          </a:xfrm>
          <a:prstGeom prst="roundRect">
            <a:avLst>
              <a:gd name="adj" fmla="val 6863"/>
            </a:avLst>
          </a:prstGeom>
          <a:solidFill>
            <a:srgbClr val="F7F5FB"/>
          </a:solidFill>
          <a:ln/>
        </p:spPr>
      </p:sp>
      <p:sp>
        <p:nvSpPr>
          <p:cNvPr id="20" name="Shape 18"/>
          <p:cNvSpPr/>
          <p:nvPr/>
        </p:nvSpPr>
        <p:spPr>
          <a:xfrm>
            <a:off x="6492240" y="2880360"/>
            <a:ext cx="457200" cy="457200"/>
          </a:xfrm>
          <a:prstGeom prst="ellipse">
            <a:avLst/>
          </a:prstGeom>
          <a:solidFill>
            <a:srgbClr val="4B2E8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92240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132320" y="2734056"/>
            <a:ext cx="4297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scaling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132320" y="3044952"/>
            <a:ext cx="4297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features scaled for consistency, even though Random Forest itself is scale-invariant.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548640" y="3776472"/>
            <a:ext cx="5349240" cy="932688"/>
          </a:xfrm>
          <a:prstGeom prst="roundRect">
            <a:avLst>
              <a:gd name="adj" fmla="val 6863"/>
            </a:avLst>
          </a:prstGeom>
          <a:solidFill>
            <a:srgbClr val="F7F5FB"/>
          </a:solidFill>
          <a:ln/>
        </p:spPr>
      </p:sp>
      <p:sp>
        <p:nvSpPr>
          <p:cNvPr id="25" name="Shape 23"/>
          <p:cNvSpPr/>
          <p:nvPr/>
        </p:nvSpPr>
        <p:spPr>
          <a:xfrm>
            <a:off x="777240" y="4014216"/>
            <a:ext cx="457200" cy="457200"/>
          </a:xfrm>
          <a:prstGeom prst="ellipse">
            <a:avLst/>
          </a:prstGeom>
          <a:solidFill>
            <a:srgbClr val="4B2E8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77240" y="40142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417320" y="3867912"/>
            <a:ext cx="4297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80/20 split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417320" y="4178808"/>
            <a:ext cx="4297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class proportions across train and test sets.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Handling class imbalance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03520" cy="4206240"/>
          </a:xfrm>
          <a:prstGeom prst="roundRect">
            <a:avLst>
              <a:gd name="adj" fmla="val 1739"/>
            </a:avLst>
          </a:prstGeom>
          <a:solidFill>
            <a:srgbClr val="F7F5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8288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B2E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SMOTE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2402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Minority Oversampling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651760"/>
            <a:ext cx="46634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synthetic minority-class samples to rebalance the training set.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INSIDE an imblearn Pipeline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resampling happens per cross-validation fold — no synthetic sample ever leaks into a validation or test fold.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1600200"/>
            <a:ext cx="5440680" cy="4206240"/>
          </a:xfrm>
          <a:prstGeom prst="roundRect">
            <a:avLst>
              <a:gd name="adj" fmla="val 1739"/>
            </a:avLst>
          </a:prstGeom>
          <a:solidFill>
            <a:srgbClr val="4B2E8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92240" y="182880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class_weight='balanced'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2402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9C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Cost-sensitive learning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651760"/>
            <a:ext cx="49377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Penalizes minority-class misclassification more heavily during tree splitting — a second, complementary layer of imbalance handling.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Belt-and-suspenders: 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9C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here are only mildly imbalanced (~30/35/35%), so either technique alone would likely suffice — combining them costs nothing.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Hyperparameter tuning — GridSearchCV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5-fold cross-validation, optimizing macro-F1 (all 3 classes weighted equally)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6583680" cy="2377440"/>
        </p:xfrm>
        <a:graphic>
          <a:graphicData uri="http://schemas.openxmlformats.org/drawingml/2006/table">
            <a:tbl>
              <a:tblPr/>
              <a:tblGrid>
                <a:gridCol w="2377440"/>
                <a:gridCol w="2560320"/>
                <a:gridCol w="16459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Hyperparameter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Grid searched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n_estimators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100, 200, 400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max_depth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None, 5, 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min_samples_leaf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1, 2, 4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max_features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sqrt, log2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B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1874520"/>
            <a:ext cx="6583680" cy="457200"/>
          </a:xfrm>
          <a:prstGeom prst="rect">
            <a:avLst/>
          </a:prstGeom>
          <a:solidFill>
            <a:srgbClr val="4B2E8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18745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3017520" y="18745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searched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577840" y="18745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value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498080" y="1874520"/>
            <a:ext cx="4114800" cy="2286000"/>
          </a:xfrm>
          <a:prstGeom prst="roundRect">
            <a:avLst>
              <a:gd name="adj" fmla="val 3200"/>
            </a:avLst>
          </a:prstGeom>
          <a:solidFill>
            <a:srgbClr val="00A896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498080" y="2148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CV Macro-F1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498080" y="251460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0.939</a:t>
            </a:r>
            <a:endParaRPr lang="en-US" sz="5200" dirty="0"/>
          </a:p>
        </p:txBody>
      </p:sp>
      <p:sp>
        <p:nvSpPr>
          <p:cNvPr id="13" name="Text 10"/>
          <p:cNvSpPr txBox="1"/>
          <p:nvPr/>
        </p:nvSpPr>
        <p:spPr>
          <a:xfrm>
            <a:off x="7498080" y="35204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candidates × 5 folds = 270 fits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457200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7F5FB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68680" y="480060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macro-F1? 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Treats Control, Benign, and PDAC as equally important — appropriate for a screening tool where missing a minority PDAC case is the costly error, not just overall accuracy.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B2E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Test-set performance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383280" cy="1920240"/>
          </a:xfrm>
          <a:prstGeom prst="roundRect">
            <a:avLst>
              <a:gd name="adj" fmla="val 3810"/>
            </a:avLst>
          </a:prstGeom>
          <a:solidFill>
            <a:srgbClr val="34205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10312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91.5%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06324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9C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51960" y="1828800"/>
            <a:ext cx="3383280" cy="1920240"/>
          </a:xfrm>
          <a:prstGeom prst="roundRect">
            <a:avLst>
              <a:gd name="adj" fmla="val 3810"/>
            </a:avLst>
          </a:prstGeom>
          <a:solidFill>
            <a:srgbClr val="34205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251960" y="210312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0.983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4251960" y="306324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9C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ROC-AUC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9C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(one-vs-rest)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55280" y="1828800"/>
            <a:ext cx="3383280" cy="1920240"/>
          </a:xfrm>
          <a:prstGeom prst="roundRect">
            <a:avLst>
              <a:gd name="adj" fmla="val 3810"/>
            </a:avLst>
          </a:prstGeom>
          <a:solidFill>
            <a:srgbClr val="34205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955280" y="210312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0.917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306324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9C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F1-score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114800"/>
          <a:ext cx="11064240" cy="1737360"/>
        </p:xfrm>
        <a:graphic>
          <a:graphicData uri="http://schemas.openxmlformats.org/drawingml/2006/table">
            <a:tbl>
              <a:tblPr/>
              <a:tblGrid>
                <a:gridCol w="3017520"/>
                <a:gridCol w="2011680"/>
                <a:gridCol w="2011680"/>
                <a:gridCol w="2011680"/>
                <a:gridCol w="201168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B3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3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3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3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20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B3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3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3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3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20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B3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3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3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3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20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B3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3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3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3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20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B3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3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3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3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205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B3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3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3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3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20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B3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3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3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3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20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B3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3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3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3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20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B3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3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3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3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20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B3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3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3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3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205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Benign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B3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3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3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3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20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B3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3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3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3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20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B3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3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3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3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20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B3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3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3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3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20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B3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3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3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3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205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PDAC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B3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3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3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3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20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B3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3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3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3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20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B3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3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3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3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20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B3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3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3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3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20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B3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3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3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3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205C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Confusion matrix</a:t>
            </a:r>
            <a:endParaRPr lang="en-US" sz="3200" dirty="0"/>
          </a:p>
        </p:txBody>
      </p:sp>
      <p:pic>
        <p:nvPicPr>
          <p:cNvPr id="4" name="Image 0" descr="/home/user/Early-Stage-Pancreatic-Cancer-Detection-Using-Random-Forest-Classification/reports/confusion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45920"/>
            <a:ext cx="4663440" cy="388620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3A2A5C">
                <a:alpha val="15000"/>
              </a:srgbClr>
            </a:outerShdw>
          </a:effectLst>
        </p:spPr>
      </p:pic>
      <p:sp>
        <p:nvSpPr>
          <p:cNvPr id="5" name="Text 2"/>
          <p:cNvSpPr txBox="1"/>
          <p:nvPr/>
        </p:nvSpPr>
        <p:spPr>
          <a:xfrm>
            <a:off x="5760720" y="182880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760720" y="2286000"/>
            <a:ext cx="57607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 = correct predictions; off-diagonal = errors.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PDAC is rarely confused with Control — the clinically critical distinction.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residual error sits between Benign and the other two classes — plausible, since benign hepatobiliary conditions can share biomarker elevation with cancer.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ROC curves (one-vs-rest)</a:t>
            </a:r>
            <a:endParaRPr lang="en-US" sz="3200" dirty="0"/>
          </a:p>
        </p:txBody>
      </p:sp>
      <p:pic>
        <p:nvPicPr>
          <p:cNvPr id="4" name="Image 0" descr="/home/user/Early-Stage-Pancreatic-Cancer-Detection-Using-Random-Forest-Classification/reports/roc_cur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45920"/>
            <a:ext cx="4663440" cy="3945988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3A2A5C">
                <a:alpha val="15000"/>
              </a:srgbClr>
            </a:outerShdw>
          </a:effectLst>
        </p:spPr>
      </p:pic>
      <p:sp>
        <p:nvSpPr>
          <p:cNvPr id="5" name="Text 2"/>
          <p:cNvSpPr txBox="1"/>
          <p:nvPr/>
        </p:nvSpPr>
        <p:spPr>
          <a:xfrm>
            <a:off x="5760720" y="182880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curves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760720" y="2286000"/>
            <a:ext cx="57607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curve treats one class as positive vs. the other two combined.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Curves hug the top-left corner → strong separation between classes at every decision threshold.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Macro-averaged AUC of 0.983 means the model ranks true positives above false positives almost perfectly, on average across classes.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biomarkers matter most?</a:t>
            </a:r>
            <a:endParaRPr lang="en-US" sz="3200" dirty="0"/>
          </a:p>
        </p:txBody>
      </p:sp>
      <p:pic>
        <p:nvPicPr>
          <p:cNvPr id="4" name="Image 0" descr="/home/user/Early-Stage-Pancreatic-Cancer-Detection-Using-Random-Forest-Classification/reports/feature_impor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5943600" cy="445770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3A2A5C">
                <a:alpha val="15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6858000" y="1691640"/>
            <a:ext cx="4754880" cy="4480560"/>
          </a:xfrm>
          <a:prstGeom prst="roundRect">
            <a:avLst>
              <a:gd name="adj" fmla="val 1633"/>
            </a:avLst>
          </a:prstGeom>
          <a:solidFill>
            <a:srgbClr val="4B2E83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920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predictors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178040" y="2377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REG1B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9144000" y="23774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0.261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178040" y="272491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9C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Regenerating protein — highest importance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7178040" y="3337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TFF1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9144000" y="33375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0.244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178040" y="36850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9C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Trefoil factor, tissue repair protein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7178040" y="4297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CA19-9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0" y="42976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0.185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7178040" y="464515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9C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clinical pancreatic marker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7178040" y="530352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D9C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and batch features (age, sex, cohort, site) contribute little — the model relies on biology, not collection artifacts.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future work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F7F5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7830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945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— real Kaggle CSV not yet substituted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sample size (~590) typical of clinical datasets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train/test split; no repeated k-fold reporting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 importance can favor continuous over categorical features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external, site-held-out validation cohort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55448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4B2E8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37960" y="17830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1945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in the real UCI/Kaggle dataset and re-run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permutation importance &amp; SHAP for robustness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Leave-one-cohort-out validation across sites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early-stage-only PDAC (Stage I/II) detection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predicted probabilities for clinical thresholds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4B2E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4114800"/>
            <a:ext cx="5029200" cy="5029200"/>
          </a:xfrm>
          <a:prstGeom prst="ellipse">
            <a:avLst/>
          </a:prstGeom>
          <a:solidFill>
            <a:srgbClr val="3420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371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10241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Random Forest on five urinary biomarkers separates PDAC from Control/Benign with 91.5% accuracy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42900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9C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REG1B, TFF1, and CA19-9 emerge as the clinically meaningful drivers — a foundation for a low-cost, non-invasive early-screening tool, pending validation on the real dataset.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4709160"/>
            <a:ext cx="2011680" cy="0"/>
          </a:xfrm>
          <a:prstGeom prst="line">
            <a:avLst/>
          </a:prstGeom>
          <a:noFill/>
          <a:ln w="381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9377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5321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A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data, and reports: github.com/kareem1207/Early-Stage-Pancreatic-Cancer-Detection-Using-Random-Forest-Classification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2026-09-18T04:44:27Z</dcterms:created>
  <dcterms:modified xsi:type="dcterms:W3CDTF">2026-09-18T04:44:27Z</dcterms:modified>
</cp:coreProperties>
</file>