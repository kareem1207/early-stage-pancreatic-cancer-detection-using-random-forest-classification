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B647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B6478"/>
                </a:solidFill>
                <a:latin typeface="Arial"/>
              </a:rPr>
              <a:t>n = 590 samples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Diagnosis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A896"/>
              </a:solidFill>
              <a:effectLst/>
            </c:spPr>
          </c:dPt>
          <c:dPt>
            <c:idx val="1"/>
            <c:bubble3D val="0"/>
            <c:spPr>
              <a:solidFill>
                <a:srgbClr val="F2A900"/>
              </a:solidFill>
              <a:effectLst/>
            </c:spPr>
          </c:dPt>
          <c:dPt>
            <c:idx val="2"/>
            <c:bubble3D val="0"/>
            <c:spPr>
              <a:solidFill>
                <a:srgbClr val="4B2E83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Control</c:v>
                </c:pt>
                <c:pt idx="1">
                  <c:v>Benign</c:v>
                </c:pt>
                <c:pt idx="2">
                  <c:v>PDAC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186</c:v>
                </c:pt>
                <c:pt idx="1">
                  <c:v>207</c:v>
                </c:pt>
                <c:pt idx="2">
                  <c:v>197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1B3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B2E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5029200" cy="5029200"/>
          </a:xfrm>
          <a:prstGeom prst="ellipse">
            <a:avLst/>
          </a:prstGeom>
          <a:solidFill>
            <a:srgbClr val="34205C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840480" cy="3840480"/>
          </a:xfrm>
          <a:prstGeom prst="ellipse">
            <a:avLst/>
          </a:prstGeom>
          <a:solidFill>
            <a:srgbClr val="5B3A9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COURSE PROJECT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8961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Early-Stage Pancreatic Cancer Detection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Random Forest Classification on Urinary Biomarker Data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381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43484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 (sole model)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Urinary biomarkers — CA19-9, creatinine, LYVE1, REG1B, TFF1, REG1A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89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 ·  Benign  ·  PDAC  — 3-class clinical screening classifier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Pancreatic cancer is deadly because it's found too late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7F5FB"/>
          </a:solidFill>
          <a:ln/>
          <a:effectLst>
            <a:outerShdw sx="100000" sy="100000" kx="0" ky="0" algn="bl" rotWithShape="0" blurRad="76200" dist="25400" dir="5400000">
              <a:srgbClr val="3A2A5C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2402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0896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survival rate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stages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7F5FB"/>
          </a:solidFill>
          <a:ln/>
          <a:effectLst>
            <a:outerShdw sx="100000" sy="100000" kx="0" ky="0" algn="bl" rotWithShape="0" blurRad="76200" dist="25400" dir="5400000">
              <a:srgbClr val="3A2A5C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51960" y="22402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80%+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10896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cases diagnosed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late, inoperable stage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7F5FB"/>
          </a:solidFill>
          <a:ln/>
          <a:effectLst>
            <a:outerShdw sx="100000" sy="100000" kx="0" ky="0" algn="bl" rotWithShape="0" blurRad="76200" dist="25400" dir="5400000">
              <a:srgbClr val="3A2A5C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955280" y="22402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Non-invasive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310896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test could enable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early screening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4B2E8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55371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89204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end-to-end ML pipeline that classifies patients as Control / Benign / PDAC from cheap, non-invasive urinary biomarkers — using Random Forest as the sole data mining technique, with a clear answer to “which biomarkers actually matter?”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F7F5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Debernardi et al. (2020)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231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PLOS Medicine — case-control study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88920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a urinary panel (LYVE1, REG1B, TFF1) plus plasma CA19-9 and creatinine across Control / Benign / PDAC cohorts, combined into a “PancRISK” score that outperformed CA19-9 alone.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886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shaped this project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2062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the exact biomarker feature set used here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the 3-class diagnostic framing (not just binary)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Multi-marker panel motivated a non-linear model over single-threshold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4B2E8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20116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Breiman (2001)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24231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journal — “Random Forests”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2788920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bagging + per-split feature randomization to decorrelate trees, reducing variance without the tuning burden of boosting. Formalized Gini-based feature importance as a free byproduct.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3886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shaped this project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19672" y="420624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algorithmic basis for RandomForestClassifier here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Bias–variance guidance behind the hyperparameter grid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answers “which biomarkers matter?” directly from the model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Urinary Biomarkers for Pancreatic Cancer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panel and diagnostic structure follow Debernardi et al. (2020) — 590 samples, 3 diagnosis classes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4206240"/>
        </p:xfrm>
        <a:graphic>
          <a:graphicData uri="http://schemas.openxmlformats.org/drawingml/2006/table">
            <a:tbl>
              <a:tblPr/>
              <a:tblGrid>
                <a:gridCol w="246888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plasma CA19-9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pancreatic cancer blood marker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creatinine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Urine concentration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LYVE1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 vessel endothelial marker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REG1B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Regenerating protein — top predictor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Trefoil factor — tissue repair protein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REG1A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Regenerating protein family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sex, cohort, origin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 / batch metadata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1828800"/>
            <a:ext cx="6766560" cy="365760"/>
          </a:xfrm>
          <a:prstGeom prst="rect">
            <a:avLst/>
          </a:prstGeom>
          <a:solidFill>
            <a:srgbClr val="4B2E8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1828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063240" y="18288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14173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498080" y="1783080"/>
          <a:ext cx="41148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892040"/>
            <a:ext cx="4114800" cy="1143000"/>
          </a:xfrm>
          <a:prstGeom prst="roundRect">
            <a:avLst>
              <a:gd name="adj" fmla="val 6400"/>
            </a:avLst>
          </a:prstGeom>
          <a:solidFill>
            <a:srgbClr val="F7F5F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0" y="50292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leakage removed: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disease-stage and benign-subtype fields are dropped before modeling, since both are only known after diagnosis.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327148" y="3127248"/>
            <a:ext cx="539496" cy="237744"/>
          </a:xfrm>
          <a:prstGeom prst="rightArrow">
            <a:avLst/>
          </a:prstGeom>
          <a:solidFill>
            <a:srgbClr val="D9CEF0"/>
          </a:solidFill>
          <a:ln/>
        </p:spPr>
      </p:sp>
      <p:sp>
        <p:nvSpPr>
          <p:cNvPr id="5" name="Shape 3"/>
          <p:cNvSpPr/>
          <p:nvPr/>
        </p:nvSpPr>
        <p:spPr>
          <a:xfrm>
            <a:off x="516636" y="237744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7F5FB"/>
          </a:solidFill>
          <a:ln/>
          <a:effectLst>
            <a:outerShdw sx="100000" sy="100000" kx="0" ky="0" algn="bl" rotWithShape="0" blurRad="76200" dist="25400" dir="5400000">
              <a:srgbClr val="3A2A5C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75004" y="2606040"/>
            <a:ext cx="512064" cy="512064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75004" y="26060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6636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08076" y="36118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data_loader.py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8868" y="3127248"/>
            <a:ext cx="539496" cy="237744"/>
          </a:xfrm>
          <a:prstGeom prst="rightArrow">
            <a:avLst/>
          </a:prstGeom>
          <a:solidFill>
            <a:srgbClr val="D9CEF0"/>
          </a:solidFill>
          <a:ln/>
        </p:spPr>
      </p:sp>
      <p:sp>
        <p:nvSpPr>
          <p:cNvPr id="11" name="Shape 9"/>
          <p:cNvSpPr/>
          <p:nvPr/>
        </p:nvSpPr>
        <p:spPr>
          <a:xfrm>
            <a:off x="2848356" y="237744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7F5FB"/>
          </a:solidFill>
          <a:ln/>
          <a:effectLst>
            <a:outerShdw sx="100000" sy="100000" kx="0" ky="0" algn="bl" rotWithShape="0" blurRad="76200" dist="25400" dir="5400000">
              <a:srgbClr val="3A2A5C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06724" y="2606040"/>
            <a:ext cx="512064" cy="512064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06724" y="26060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848356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39796" y="36118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encode · scale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90588" y="3127248"/>
            <a:ext cx="539496" cy="237744"/>
          </a:xfrm>
          <a:prstGeom prst="rightArrow">
            <a:avLst/>
          </a:prstGeom>
          <a:solidFill>
            <a:srgbClr val="D9CEF0"/>
          </a:solidFill>
          <a:ln/>
        </p:spPr>
      </p:sp>
      <p:sp>
        <p:nvSpPr>
          <p:cNvPr id="17" name="Shape 15"/>
          <p:cNvSpPr/>
          <p:nvPr/>
        </p:nvSpPr>
        <p:spPr>
          <a:xfrm>
            <a:off x="5180076" y="237744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4B2E83"/>
          </a:solidFill>
          <a:ln/>
          <a:effectLst>
            <a:outerShdw sx="100000" sy="100000" kx="0" ky="0" algn="bl" rotWithShape="0" blurRad="76200" dist="25400" dir="5400000">
              <a:srgbClr val="3A2A5C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38444" y="2606040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38444" y="26060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180076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71516" y="36118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+ GridSearchCV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322308" y="3127248"/>
            <a:ext cx="539496" cy="237744"/>
          </a:xfrm>
          <a:prstGeom prst="rightArrow">
            <a:avLst/>
          </a:prstGeom>
          <a:solidFill>
            <a:srgbClr val="D9CEF0"/>
          </a:solidFill>
          <a:ln/>
        </p:spPr>
      </p:sp>
      <p:sp>
        <p:nvSpPr>
          <p:cNvPr id="23" name="Shape 21"/>
          <p:cNvSpPr/>
          <p:nvPr/>
        </p:nvSpPr>
        <p:spPr>
          <a:xfrm>
            <a:off x="7511796" y="237744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7F5FB"/>
          </a:solidFill>
          <a:ln/>
          <a:effectLst>
            <a:outerShdw sx="100000" sy="100000" kx="0" ky="0" algn="bl" rotWithShape="0" blurRad="76200" dist="25400" dir="5400000">
              <a:srgbClr val="3A2A5C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70164" y="2606040"/>
            <a:ext cx="512064" cy="512064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70164" y="26060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11796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03236" y="36118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plots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843516" y="237744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7F5FB"/>
          </a:solidFill>
          <a:ln/>
          <a:effectLst>
            <a:outerShdw sx="100000" sy="100000" kx="0" ky="0" algn="bl" rotWithShape="0" blurRad="76200" dist="25400" dir="5400000">
              <a:srgbClr val="3A2A5C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501884" y="2606040"/>
            <a:ext cx="512064" cy="512064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501884" y="26060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843516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934956" y="36118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predict.py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is used as the sole data mining technique throughout — no ensembling with other model families, no deep learning.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Random Forest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88636" y="14173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4B2E8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88636" y="14173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07692" y="1920240"/>
            <a:ext cx="0" cy="411480"/>
          </a:xfrm>
          <a:prstGeom prst="line">
            <a:avLst/>
          </a:prstGeom>
          <a:noFill/>
          <a:ln w="19050">
            <a:solidFill>
              <a:srgbClr val="D9CE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4772" y="2331720"/>
            <a:ext cx="1005840" cy="365760"/>
          </a:xfrm>
          <a:prstGeom prst="roundRect">
            <a:avLst>
              <a:gd name="adj" fmla="val 75000"/>
            </a:avLst>
          </a:prstGeom>
          <a:solidFill>
            <a:srgbClr val="F7F5FB"/>
          </a:solidFill>
          <a:ln w="12700">
            <a:solidFill>
              <a:srgbClr val="4B2E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04772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39012" y="2971800"/>
            <a:ext cx="1737360" cy="1417320"/>
          </a:xfrm>
          <a:prstGeom prst="triangl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39012" y="40050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239012" y="446227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subset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101084" y="1920240"/>
            <a:ext cx="0" cy="411480"/>
          </a:xfrm>
          <a:prstGeom prst="line">
            <a:avLst/>
          </a:prstGeom>
          <a:noFill/>
          <a:ln w="19050">
            <a:solidFill>
              <a:srgbClr val="D9CE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8164" y="2331720"/>
            <a:ext cx="1005840" cy="365760"/>
          </a:xfrm>
          <a:prstGeom prst="roundRect">
            <a:avLst>
              <a:gd name="adj" fmla="val 75000"/>
            </a:avLst>
          </a:prstGeom>
          <a:solidFill>
            <a:srgbClr val="F7F5FB"/>
          </a:solidFill>
          <a:ln w="12700">
            <a:solidFill>
              <a:srgbClr val="4B2E8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98164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32404" y="2971800"/>
            <a:ext cx="1737360" cy="1417320"/>
          </a:xfrm>
          <a:prstGeom prst="triangle">
            <a:avLst/>
          </a:prstGeom>
          <a:solidFill>
            <a:srgbClr val="3FBFA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32404" y="40050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232404" y="446227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subset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94476" y="1920240"/>
            <a:ext cx="914" cy="411480"/>
          </a:xfrm>
          <a:prstGeom prst="line">
            <a:avLst/>
          </a:prstGeom>
          <a:noFill/>
          <a:ln w="19050">
            <a:solidFill>
              <a:srgbClr val="D9CE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91556" y="2331720"/>
            <a:ext cx="1005840" cy="365760"/>
          </a:xfrm>
          <a:prstGeom prst="roundRect">
            <a:avLst>
              <a:gd name="adj" fmla="val 75000"/>
            </a:avLst>
          </a:prstGeom>
          <a:solidFill>
            <a:srgbClr val="F7F5FB"/>
          </a:solidFill>
          <a:ln w="12700">
            <a:solidFill>
              <a:srgbClr val="4B2E8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91556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225796" y="2971800"/>
            <a:ext cx="1737360" cy="1417320"/>
          </a:xfrm>
          <a:prstGeom prst="triangl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25796" y="40050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225796" y="446227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subset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087868" y="1920240"/>
            <a:ext cx="0" cy="411480"/>
          </a:xfrm>
          <a:prstGeom prst="line">
            <a:avLst/>
          </a:prstGeom>
          <a:noFill/>
          <a:ln w="19050">
            <a:solidFill>
              <a:srgbClr val="D9CE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84948" y="2331720"/>
            <a:ext cx="1005840" cy="365760"/>
          </a:xfrm>
          <a:prstGeom prst="roundRect">
            <a:avLst>
              <a:gd name="adj" fmla="val 75000"/>
            </a:avLst>
          </a:prstGeom>
          <a:solidFill>
            <a:srgbClr val="F7F5FB"/>
          </a:solidFill>
          <a:ln w="12700">
            <a:solidFill>
              <a:srgbClr val="4B2E8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4948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19188" y="2971800"/>
            <a:ext cx="1737360" cy="1417320"/>
          </a:xfrm>
          <a:prstGeom prst="triangle">
            <a:avLst/>
          </a:prstGeom>
          <a:solidFill>
            <a:srgbClr val="3FBF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219188" y="40050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219188" y="446227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subset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081260" y="1920240"/>
            <a:ext cx="0" cy="411480"/>
          </a:xfrm>
          <a:prstGeom prst="line">
            <a:avLst/>
          </a:prstGeom>
          <a:noFill/>
          <a:ln w="19050">
            <a:solidFill>
              <a:srgbClr val="D9CE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8340" y="2331720"/>
            <a:ext cx="1005840" cy="365760"/>
          </a:xfrm>
          <a:prstGeom prst="roundRect">
            <a:avLst>
              <a:gd name="adj" fmla="val 75000"/>
            </a:avLst>
          </a:prstGeom>
          <a:solidFill>
            <a:srgbClr val="F7F5FB"/>
          </a:solidFill>
          <a:ln w="12700">
            <a:solidFill>
              <a:srgbClr val="4B2E8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78340" y="23317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212580" y="2971800"/>
            <a:ext cx="1737360" cy="1417320"/>
          </a:xfrm>
          <a:prstGeom prst="triangle">
            <a:avLst/>
          </a:prstGeom>
          <a:solidFill>
            <a:srgbClr val="00A89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12580" y="40050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212580" y="446227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subset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174236" y="5056632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4B2E8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174236" y="5056632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 across trees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107692" y="4919472"/>
            <a:ext cx="3986784" cy="137160"/>
          </a:xfrm>
          <a:prstGeom prst="line">
            <a:avLst/>
          </a:prstGeom>
          <a:noFill/>
          <a:ln w="12700">
            <a:solidFill>
              <a:srgbClr val="D9CE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1084" y="4919472"/>
            <a:ext cx="1993392" cy="137160"/>
          </a:xfrm>
          <a:prstGeom prst="line">
            <a:avLst/>
          </a:prstGeom>
          <a:noFill/>
          <a:ln w="12700">
            <a:solidFill>
              <a:srgbClr val="D9CE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4476" y="4919472"/>
            <a:ext cx="0" cy="137160"/>
          </a:xfrm>
          <a:prstGeom prst="line">
            <a:avLst/>
          </a:prstGeom>
          <a:noFill/>
          <a:ln w="12700">
            <a:solidFill>
              <a:srgbClr val="D9CE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87868" y="4919472"/>
            <a:ext cx="-1993392" cy="137160"/>
          </a:xfrm>
          <a:prstGeom prst="line">
            <a:avLst/>
          </a:prstGeom>
          <a:noFill/>
          <a:ln w="12700">
            <a:solidFill>
              <a:srgbClr val="D9CE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81260" y="4919472"/>
            <a:ext cx="-3986784" cy="137160"/>
          </a:xfrm>
          <a:prstGeom prst="line">
            <a:avLst/>
          </a:prstGeom>
          <a:noFill/>
          <a:ln w="12700">
            <a:solidFill>
              <a:srgbClr val="D9CE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57316" y="5696712"/>
            <a:ext cx="274320" cy="274320"/>
          </a:xfrm>
          <a:prstGeom prst="downArrow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08476" y="60167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class: Control / Benign / PDAC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932688"/>
          </a:xfrm>
          <a:prstGeom prst="roundRect">
            <a:avLst>
              <a:gd name="adj" fmla="val 6863"/>
            </a:avLst>
          </a:prstGeom>
          <a:solidFill>
            <a:srgbClr val="F7F5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46504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00200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target leakage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11096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stage &amp; benign_sample_diagnosis — only populated AFTER diagnosis, so keeping them would let the model cheat.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63640" y="1508760"/>
            <a:ext cx="5349240" cy="932688"/>
          </a:xfrm>
          <a:prstGeom prst="roundRect">
            <a:avLst>
              <a:gd name="adj" fmla="val 6863"/>
            </a:avLst>
          </a:prstGeom>
          <a:solidFill>
            <a:srgbClr val="F7F5FB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746504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600200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imputation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1911096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plasma_CA19_9 and REG1A have real missingness; median is robust to skewed biomarker concentrations.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48640" y="2642616"/>
            <a:ext cx="5349240" cy="932688"/>
          </a:xfrm>
          <a:prstGeom prst="roundRect">
            <a:avLst>
              <a:gd name="adj" fmla="val 6863"/>
            </a:avLst>
          </a:prstGeom>
          <a:solidFill>
            <a:srgbClr val="F7F5F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2880360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734056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044952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sex, patient_cohort, sample_origin encoded without implying false ordering.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263640" y="2642616"/>
            <a:ext cx="5349240" cy="932688"/>
          </a:xfrm>
          <a:prstGeom prst="roundRect">
            <a:avLst>
              <a:gd name="adj" fmla="val 6863"/>
            </a:avLst>
          </a:prstGeom>
          <a:solidFill>
            <a:srgbClr val="F7F5F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880360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2734056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scaling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3044952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features scaled for consistency, even though Random Forest itself is scale-invariant.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48640" y="3776472"/>
            <a:ext cx="5349240" cy="932688"/>
          </a:xfrm>
          <a:prstGeom prst="roundRect">
            <a:avLst>
              <a:gd name="adj" fmla="val 6863"/>
            </a:avLst>
          </a:prstGeom>
          <a:solidFill>
            <a:srgbClr val="F7F5FB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4014216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40142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3867912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80/20 split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4178808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class proportions across train and test sets.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class imbalance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7F5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Chawla et al. (2002)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synthetic minority-class samples to rebalance the training set.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INSIDE an imblearn Pipeline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resampling happens per cross-validation fold — no synthetic sample ever leaks into a validation or test fold.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4B2E8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18288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class_weight='balanced'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402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Cost-sensitive learning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6517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Penalizes minority-class misclassification more heavily during tree splitting — a second, complementary layer of imbalance handling.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Belt-and-suspenders: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here are only mildly imbalanced (~30/35/35%), so either technique alone would likely suffice — combining them costs nothing.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tuning — GridSearchCV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cross-validation, optimizing macro-F1 (all 3 classes weighted equally)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237744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searched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100, 200, 400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None, 5,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min_samples_leaf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1, 2, 4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sqrt, log2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1874520"/>
            <a:ext cx="6583680" cy="457200"/>
          </a:xfrm>
          <a:prstGeom prst="rect">
            <a:avLst/>
          </a:prstGeom>
          <a:solidFill>
            <a:srgbClr val="4B2E8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1874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874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searched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8745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value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1874520"/>
            <a:ext cx="4114800" cy="2286000"/>
          </a:xfrm>
          <a:prstGeom prst="roundRect">
            <a:avLst>
              <a:gd name="adj" fmla="val 3200"/>
            </a:avLst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98080" y="2148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CV Macro-F1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251460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0.939</a:t>
            </a:r>
            <a:endParaRPr lang="en-US" sz="52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0" y="3520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candidates × 5 folds = 270 fits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7F5F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8680" y="48006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macro-F1? 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Control, Benign, and PDAC as equally important — appropriate for a screening tool where missing a minority PDAC case is the costly error, not just overall accuracy.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B2E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Test-set performance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3420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031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828800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3420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51960" y="21031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0.983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30632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ROC-AUC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(one-vs-rest)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828800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3420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55280" y="21031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0.917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0632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F1-score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173736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B3A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205C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measure success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7F5FB"/>
          </a:solidFill>
          <a:ln/>
        </p:spPr>
      </p:sp>
      <p:sp>
        <p:nvSpPr>
          <p:cNvPr id="5" name="Shape 3"/>
          <p:cNvSpPr/>
          <p:nvPr/>
        </p:nvSpPr>
        <p:spPr>
          <a:xfrm>
            <a:off x="1650492" y="1801368"/>
            <a:ext cx="402336" cy="402336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50492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1343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517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(TP + TN) / Total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063240"/>
            <a:ext cx="22768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fraction correct — misleading alone under class imbalance.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7F5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85132" y="1801368"/>
            <a:ext cx="402336" cy="402336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85132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1343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517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 / (TP + FP)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47872" y="3063240"/>
            <a:ext cx="22768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predicted PDAC cases, how many really are PDAC.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7F5FB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9772" y="1801368"/>
            <a:ext cx="402336" cy="402336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9772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31343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6517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 / (TP + FN)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3063240"/>
            <a:ext cx="22768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actual PDAC cases, how many we catch — critical for screening.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7F5FB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54412" y="1801368"/>
            <a:ext cx="402336" cy="402336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154412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231343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P · R / (P + R)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17152" y="3063240"/>
            <a:ext cx="22768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of precision &amp; recall; used as macro-F1 to weight all 3 classes equally.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416052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4B2E8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4343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(one-vs-rest)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66344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every possible decision threshold and plots True Positive Rate vs. False Positive Rate for each class treated as positive-vs-rest. The Area Under the Curve (0–1) summarizes ranking quality independent of any single threshold — 0.5 is random guessing, 1.0 is perfect separation. Our macro-AUC of 0.983 means the model ranks true positives above false positives almost perfectly, averaged across Control, Benign, and PDAC.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</a:t>
            </a:r>
            <a:endParaRPr lang="en-US" sz="3200" dirty="0"/>
          </a:p>
        </p:txBody>
      </p:sp>
      <p:pic>
        <p:nvPicPr>
          <p:cNvPr id="4" name="Image 0" descr="/home/user/Early-Stage-Pancreatic-Cancer-Detection-Using-Random-Forest-Classification/reports/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794760" cy="31623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3A2A5C">
                <a:alpha val="1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4853940"/>
            <a:ext cx="1897380" cy="617220"/>
          </a:xfrm>
          <a:prstGeom prst="rect">
            <a:avLst/>
          </a:prstGeom>
          <a:solidFill>
            <a:srgbClr val="F7F5FB"/>
          </a:solidFill>
          <a:ln w="12700">
            <a:solidFill>
              <a:srgbClr val="E3DD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0516"/>
            <a:ext cx="18973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183124"/>
            <a:ext cx="18973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positive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446020" y="4853940"/>
            <a:ext cx="1897380" cy="617220"/>
          </a:xfrm>
          <a:prstGeom prst="rect">
            <a:avLst/>
          </a:prstGeom>
          <a:solidFill>
            <a:srgbClr val="F7F5FB"/>
          </a:solidFill>
          <a:ln w="12700">
            <a:solidFill>
              <a:srgbClr val="E3DD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46020" y="4890516"/>
            <a:ext cx="18973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446020" y="5183124"/>
            <a:ext cx="18973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positive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5471160"/>
            <a:ext cx="1897380" cy="617220"/>
          </a:xfrm>
          <a:prstGeom prst="rect">
            <a:avLst/>
          </a:prstGeom>
          <a:solidFill>
            <a:srgbClr val="F7F5FB"/>
          </a:solidFill>
          <a:ln w="12700">
            <a:solidFill>
              <a:srgbClr val="E3DD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507736"/>
            <a:ext cx="18973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00344"/>
            <a:ext cx="18973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446020" y="5471160"/>
            <a:ext cx="1897380" cy="617220"/>
          </a:xfrm>
          <a:prstGeom prst="rect">
            <a:avLst/>
          </a:prstGeom>
          <a:solidFill>
            <a:srgbClr val="F7F5FB"/>
          </a:solidFill>
          <a:ln w="12700">
            <a:solidFill>
              <a:srgbClr val="E3DD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46020" y="5507736"/>
            <a:ext cx="18973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446020" y="5800344"/>
            <a:ext cx="18973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negative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561332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Confusion-matrix anatomy (generic 2×2 view)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257800" y="155448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257800" y="1965960"/>
            <a:ext cx="630936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 = correct predictions; off-diagonal = errors.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PDAC is rarely confused with Control (0 cases) — the clinically critical distinction for a screening tool.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PDAC cases were predicted as Benign (false negatives) — the costliest error type, since a missed PDAC case delays treatment.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Benign cases were predicted as PDAC (false positives) — a lower-cost error, since it triggers further (safe) clinical workup rather than a missed diagnosis.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residual error sits between Benign and the other two classes — plausible, since benign hepatobiliary conditions can share biomarker elevation with cancer, consistent with the overlap noted by Debernardi et al.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(one-vs-rest)</a:t>
            </a:r>
            <a:endParaRPr lang="en-US" sz="3200" dirty="0"/>
          </a:p>
        </p:txBody>
      </p:sp>
      <p:pic>
        <p:nvPicPr>
          <p:cNvPr id="4" name="Image 0" descr="/home/user/Early-Stage-Pancreatic-Cancer-Detection-Using-Random-Forest-Classification/reports/roc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572000" cy="3868615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3A2A5C">
                <a:alpha val="1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40080" y="5651695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AUC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944303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1.00   ·   Benign 0.97   ·   PDAC 0.98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669280" y="16002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curves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011680"/>
            <a:ext cx="59436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curve treats one class as positive vs. the other two combined, sweeping the decision threshold from 0 to 1.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Curves hug the top-left corner → strong separation between classes at almost every threshold, not just the default 0.5 cutoff.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Control's curve reaches AUC = 1.00 — the model perfectly ranks healthy patients above non-healthy ones by predicted probability.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has the lowest per-class AUC (0.97), mirroring the confusion-matrix finding that Benign is the hardest class to isolate.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Macro-averaged AUC of 0.983 means that, averaged across classes, a randomly chosen true positive is ranked above a randomly chosen true negative 98.3% of the time.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biomarkers matter most?</a:t>
            </a:r>
            <a:endParaRPr lang="en-US" sz="3200" dirty="0"/>
          </a:p>
        </p:txBody>
      </p:sp>
      <p:pic>
        <p:nvPicPr>
          <p:cNvPr id="4" name="Image 0" descr="/home/user/Early-Stage-Pancreatic-Cancer-Detection-Using-Random-Forest-Classification/reports/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943600" cy="44577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3A2A5C">
                <a:alpha val="1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858000" y="169164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4B2E8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predictors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REG1B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44000" y="23774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7249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Regenerating protein — highest importance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337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TFF1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33375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0.244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36850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Trefoil factor, tissue repair protein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297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CA19-9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42976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0.185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464515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clinical pancreatic marker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530352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and batch features (age, sex, cohort, site) contribute little — the model relies on biology, not collection artifacts.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align with prior clinical findings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Debernardi et al. (2020) reported that REG1B and TFF1 were among the strongest individual discriminators in their urinary biomarker panel, and that CA19-9 alone under-performs a combined panel. Our independently trained Random Forest recovers the same ranking directly from its Gini-based feature importance: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11064240" cy="210312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Biomarker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project's Gini importance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Debernardi et al. finding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REG1B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0.261 (rank 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Among top discriminators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TFF1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 (rank 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Among top discriminators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Plasma CA19-9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0.185 (rank 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Weaker alone than combined panel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LYVE1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 (rank 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4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Contributory, secondary 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2606040"/>
            <a:ext cx="11064240" cy="457200"/>
          </a:xfrm>
          <a:prstGeom prst="rect">
            <a:avLst/>
          </a:prstGeom>
          <a:solidFill>
            <a:srgbClr val="4B2E8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2606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Biomarker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33756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project's Gini importance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606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Debernardi et al. finding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9834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4B2E8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516636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agreement gives face validity to the model: it is picking up the intended biological signal described in the clinical literature, not artifacts of data collection or batch effects.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7F5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(~590) is modest, typical of clinical biomarker cohorts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train/test split; no repeated k-fold reporting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importance can favor continuous over categorical features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external, site-held-out validation cohort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CA19-9 is known to under-perform in certain blood-group profiles, not separately modeled here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4B2E8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1783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permutation importance &amp; SHAP for robustness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Leave-one-cohort-out validation across sites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early-stage-only PDAC (Stage I/II) detection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predicted probabilities for clinical thresholds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panel with additional emerging biomarkers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B2E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114800"/>
            <a:ext cx="5029200" cy="5029200"/>
          </a:xfrm>
          <a:prstGeom prst="ellipse">
            <a:avLst/>
          </a:prstGeom>
          <a:solidFill>
            <a:srgbClr val="3420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241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Random Forest on five urinary biomarkers separates PDAC from Control/Benign with 91.5% accuracy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290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C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REG1B, TFF1, and CA19-9 emerge as the clinically meaningful drivers — consistent with Debernardi et al. (2020) — built on the Random Forest methodology of Breiman (2001), forming a foundation for a low-cost, non-invasive early-screening tool.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2011680" cy="0"/>
          </a:xfrm>
          <a:prstGeom prst="line">
            <a:avLst/>
          </a:prstGeom>
          <a:noFill/>
          <a:ln w="381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623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and reports: github.com/kareem1207/Early-Stage-Pancreatic-Cancer-Detection-Using-Random-Forest-Classification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2026-09-29T08:47:00Z</dcterms:created>
  <dcterms:modified xsi:type="dcterms:W3CDTF">2026-09-29T08:47:00Z</dcterms:modified>
</cp:coreProperties>
</file>